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5" r:id="rId5"/>
    <p:sldId id="273" r:id="rId6"/>
    <p:sldId id="261" r:id="rId7"/>
    <p:sldId id="263" r:id="rId8"/>
    <p:sldId id="271" r:id="rId9"/>
    <p:sldId id="276" r:id="rId10"/>
    <p:sldId id="262" r:id="rId11"/>
    <p:sldId id="264" r:id="rId12"/>
    <p:sldId id="265" r:id="rId13"/>
    <p:sldId id="266" r:id="rId14"/>
    <p:sldId id="267" r:id="rId15"/>
    <p:sldId id="268" r:id="rId16"/>
    <p:sldId id="270" r:id="rId17"/>
    <p:sldId id="269" r:id="rId18"/>
    <p:sldId id="272" r:id="rId19"/>
    <p:sldId id="274" r:id="rId20"/>
    <p:sldId id="259" r:id="rId21"/>
  </p:sldIdLst>
  <p:sldSz cx="12192000" cy="6858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Lato Black" panose="020F0502020204030203" pitchFamily="34" charset="0"/>
      <p:bold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adeshyogi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linkedin.com/in/saisharathp" TargetMode="External"/><Relationship Id="rId4" Type="http://schemas.openxmlformats.org/officeDocument/2006/relationships/hyperlink" Target="https://github.com/aadeshyogi12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47135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Grocery Store Management</a:t>
            </a:r>
            <a:endParaRPr sz="44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B511F5-D8DE-41E7-B3F0-A5820E9A2F2A}"/>
              </a:ext>
            </a:extLst>
          </p:cNvPr>
          <p:cNvSpPr txBox="1"/>
          <p:nvPr/>
        </p:nvSpPr>
        <p:spPr>
          <a:xfrm>
            <a:off x="8559538" y="5231876"/>
            <a:ext cx="2688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 : Yogi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Aadeshkumar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No. : 450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54;p2">
            <a:extLst>
              <a:ext uri="{FF2B5EF4-FFF2-40B4-BE49-F238E27FC236}">
                <a16:creationId xmlns:a16="http://schemas.microsoft.com/office/drawing/2014/main" id="{8DE42A20-5FD3-45BD-A934-D3A148BD8A31}"/>
              </a:ext>
            </a:extLst>
          </p:cNvPr>
          <p:cNvSpPr txBox="1"/>
          <p:nvPr/>
        </p:nvSpPr>
        <p:spPr>
          <a:xfrm>
            <a:off x="958558" y="1451152"/>
            <a:ext cx="10124055" cy="3657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685" indent="-342900">
              <a:buSzPts val="2400"/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My name is Yogi </a:t>
            </a:r>
            <a:r>
              <a:rPr lang="en-US" sz="2400" b="1" dirty="0" err="1">
                <a:latin typeface="Calibri"/>
                <a:ea typeface="Calibri"/>
                <a:cs typeface="Calibri"/>
                <a:sym typeface="Calibri"/>
              </a:rPr>
              <a:t>Aadeshkumar</a:t>
            </a: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. I have completed my </a:t>
            </a:r>
            <a:r>
              <a:rPr lang="en-US" sz="2400" b="1" dirty="0" err="1"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 in Information Technology from Silver Oak University, Ahmedabad (2021-2025).</a:t>
            </a:r>
            <a:endParaRPr lang="en-US" dirty="0"/>
          </a:p>
          <a:p>
            <a:pPr marL="400685" lvl="0" indent="-342900" algn="l" rtl="0">
              <a:spcBef>
                <a:spcPts val="1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2400" dirty="0">
              <a:latin typeface="Calibri"/>
              <a:ea typeface="Calibri"/>
              <a:cs typeface="Calibri"/>
              <a:sym typeface="Calibri"/>
            </a:endParaRPr>
          </a:p>
          <a:p>
            <a:pPr marL="355600" indent="-342900">
              <a:buSzPts val="2400"/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I want to learn Data Science </a:t>
            </a:r>
            <a:r>
              <a:rPr lang="en-US" sz="2200" b="1" dirty="0"/>
              <a:t>because I enjoy finding useful insights from data to help make better decisions. I also like working with numbers and tools to uncover patterns that solve real-world problems.</a:t>
            </a:r>
          </a:p>
          <a:p>
            <a:pPr marL="355600" lvl="0" indent="-342900">
              <a:buSzPts val="2400"/>
              <a:buFont typeface="Wingdings" panose="05000000000000000000" pitchFamily="2" charset="2"/>
              <a:buChar char="Ø"/>
            </a:pPr>
            <a:endParaRPr lang="en-US" sz="2400" b="1" dirty="0">
              <a:latin typeface="Calibri"/>
              <a:ea typeface="Calibri"/>
              <a:cs typeface="Calibri"/>
              <a:sym typeface="Calibri"/>
            </a:endParaRPr>
          </a:p>
          <a:p>
            <a:pPr marL="3556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LinkedIn profile : </a:t>
            </a:r>
            <a:r>
              <a:rPr lang="en-US" sz="2400" b="1" dirty="0">
                <a:latin typeface="Calibri"/>
                <a:ea typeface="Calibri"/>
                <a:cs typeface="Calibri"/>
                <a:sym typeface="Calibri"/>
                <a:hlinkClick r:id="rId3"/>
              </a:rPr>
              <a:t>LinkedIn</a:t>
            </a: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3556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endParaRPr lang="en-US" sz="2400" b="1" dirty="0">
              <a:latin typeface="Calibri"/>
              <a:ea typeface="Calibri"/>
              <a:cs typeface="Calibri"/>
              <a:sym typeface="Calibri"/>
            </a:endParaRPr>
          </a:p>
          <a:p>
            <a:pPr marL="3556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GitHub Profile : </a:t>
            </a:r>
            <a:r>
              <a:rPr lang="en-US" sz="2400" b="1" dirty="0">
                <a:latin typeface="Calibri"/>
                <a:ea typeface="Calibri"/>
                <a:cs typeface="Calibri"/>
                <a:sym typeface="Calibri"/>
                <a:hlinkClick r:id="rId4"/>
              </a:rPr>
              <a:t>GitHub</a:t>
            </a:r>
            <a:endParaRPr lang="en-US" sz="2400" b="1" dirty="0">
              <a:latin typeface="Calibri"/>
              <a:ea typeface="Calibri"/>
              <a:cs typeface="Calibri"/>
              <a:sym typeface="Calibri"/>
              <a:hlinkClick r:id="rId5" action="ppaction://hlinkfil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519556" y="389599"/>
            <a:ext cx="2591290" cy="125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643963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31800">
              <a:buSzPts val="2400"/>
            </a:pPr>
            <a:r>
              <a:rPr lang="en-US" sz="2400" b="1" dirty="0">
                <a:solidFill>
                  <a:schemeClr val="tx1"/>
                </a:solidFill>
              </a:rPr>
              <a:t>Business Problem &amp; </a:t>
            </a:r>
            <a:r>
              <a:rPr lang="en-IN" sz="2400" b="1" dirty="0"/>
              <a:t>Problem Statement</a:t>
            </a:r>
            <a:endParaRPr lang="en-IN" sz="2400" b="1" dirty="0">
              <a:solidFill>
                <a:schemeClr val="tx1"/>
              </a:solidFill>
            </a:endParaRPr>
          </a:p>
          <a:p>
            <a:pPr indent="-431800">
              <a:buSzPts val="2400"/>
            </a:pPr>
            <a:r>
              <a:rPr lang="en-IN" sz="2400" b="1" dirty="0"/>
              <a:t>Objective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ER Diagram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>
                <a:solidFill>
                  <a:schemeClr val="tx1"/>
                </a:solidFill>
              </a:rPr>
              <a:t>Table Relationships</a:t>
            </a:r>
            <a:endParaRPr sz="2400" dirty="0">
              <a:solidFill>
                <a:schemeClr val="tx1"/>
              </a:solidFill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Key analysis questions</a:t>
            </a:r>
            <a:endParaRPr lang="en-US" sz="2400" b="1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 b="1" dirty="0"/>
              <a:t>SQL query results with screenshots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Insights and Recommendations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Conclusion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Q&amp;A</a:t>
            </a: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04908-1E1C-4487-A6B3-67D881812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810" y="88263"/>
            <a:ext cx="4403103" cy="1074598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Business Problem</a:t>
            </a:r>
            <a:endParaRPr lang="en-IN" sz="4000" b="1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A8B578-2A9E-409D-B39C-4652BC2AE6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0879" y="1064444"/>
            <a:ext cx="10390239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Grocery stores generate large volumes of sales and customer data daily, but without a structured database system, it becomes difficult to track revenue, performance, and operations efficiently.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store lacks clear insights into top customers, product performance, supplier contribution, and employee efficiency, leading to poor data-driven decision-making.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CBFFD0B-15A5-4837-AEE1-4B79CAB3D2BB}"/>
              </a:ext>
            </a:extLst>
          </p:cNvPr>
          <p:cNvSpPr txBox="1">
            <a:spLocks/>
          </p:cNvSpPr>
          <p:nvPr/>
        </p:nvSpPr>
        <p:spPr>
          <a:xfrm>
            <a:off x="630810" y="3277426"/>
            <a:ext cx="5685148" cy="784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4000" b="1" dirty="0">
                <a:solidFill>
                  <a:srgbClr val="FF0000"/>
                </a:solidFill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29B5E5-E9CD-414C-A1EA-1D2100C147D0}"/>
              </a:ext>
            </a:extLst>
          </p:cNvPr>
          <p:cNvSpPr txBox="1"/>
          <p:nvPr/>
        </p:nvSpPr>
        <p:spPr>
          <a:xfrm>
            <a:off x="900879" y="4164283"/>
            <a:ext cx="1039023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 structured SQL-based relational database to efficiently store and manage customers, products, suppliers, employees, and order data.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 SQL-based data analysis to generate insights on revenue trends, customer behavior, product performance, and supplier contribution for better decision-making and improved operational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3630721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B1362-3F9F-4F2E-A7FB-C785E38E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753412" cy="1039469"/>
          </a:xfrm>
        </p:spPr>
        <p:txBody>
          <a:bodyPr/>
          <a:lstStyle/>
          <a:p>
            <a:r>
              <a:rPr lang="en-IN" sz="4400" b="1" dirty="0">
                <a:solidFill>
                  <a:srgbClr val="FF0000"/>
                </a:solidFill>
              </a:rPr>
              <a:t>Objective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A862B-77E7-4DB4-9F29-DB0BE940A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04594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Design and develop a structured relational database system for efficient grocery store operations management.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Retrieve, manage, and manipulate stored data effectively using SQL queries.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Generate meaningful business insights such as identifying top customers, high-selling products, and revenue patterns.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Apply advanced SQL concepts including joins, aggregations, subqueries, and filtering for analytical problem-solving.</a:t>
            </a:r>
          </a:p>
        </p:txBody>
      </p:sp>
    </p:spTree>
    <p:extLst>
      <p:ext uri="{BB962C8B-B14F-4D97-AF65-F5344CB8AC3E}">
        <p14:creationId xmlns:p14="http://schemas.microsoft.com/office/powerpoint/2010/main" val="2621561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B24AD-9157-4CAB-971A-4AC3F1421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91" y="371403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Tables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2609A4-C235-41E2-BA84-782B9D514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26844"/>
            <a:ext cx="4858268" cy="8782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57C53E-A052-4CE7-A3B1-78FB0A047E86}"/>
              </a:ext>
            </a:extLst>
          </p:cNvPr>
          <p:cNvSpPr txBox="1"/>
          <p:nvPr/>
        </p:nvSpPr>
        <p:spPr>
          <a:xfrm>
            <a:off x="6667395" y="1696967"/>
            <a:ext cx="3355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Table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F7E2B2-0868-4AA9-ACC3-F82D9C8CD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395" y="2251197"/>
            <a:ext cx="4305901" cy="9621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37C72A-261A-4D7E-A4D1-05CEFDCF2EE6}"/>
              </a:ext>
            </a:extLst>
          </p:cNvPr>
          <p:cNvSpPr txBox="1"/>
          <p:nvPr/>
        </p:nvSpPr>
        <p:spPr>
          <a:xfrm>
            <a:off x="838200" y="1714035"/>
            <a:ext cx="3355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Categories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9CE8DB-BAFB-47DE-AE5F-C0D7FE7C586F}"/>
              </a:ext>
            </a:extLst>
          </p:cNvPr>
          <p:cNvSpPr txBox="1"/>
          <p:nvPr/>
        </p:nvSpPr>
        <p:spPr>
          <a:xfrm>
            <a:off x="838200" y="4047578"/>
            <a:ext cx="3355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Employees Table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428D73-FD8F-4205-9CD9-02373BAAC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615491"/>
            <a:ext cx="4229690" cy="9907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FE462B8-B82A-45F1-B628-9A9D62995E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395" y="4615491"/>
            <a:ext cx="4668790" cy="156849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930CC71-A520-42C4-A3BF-DDA59FC19484}"/>
              </a:ext>
            </a:extLst>
          </p:cNvPr>
          <p:cNvSpPr txBox="1"/>
          <p:nvPr/>
        </p:nvSpPr>
        <p:spPr>
          <a:xfrm>
            <a:off x="6667395" y="4047577"/>
            <a:ext cx="3355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Details Table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C1CD71-8E6B-448D-A33F-053F9BE45525}"/>
              </a:ext>
            </a:extLst>
          </p:cNvPr>
          <p:cNvSpPr txBox="1"/>
          <p:nvPr/>
        </p:nvSpPr>
        <p:spPr>
          <a:xfrm>
            <a:off x="838200" y="4047577"/>
            <a:ext cx="3355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Employees Table</a:t>
            </a:r>
          </a:p>
        </p:txBody>
      </p:sp>
    </p:spTree>
    <p:extLst>
      <p:ext uri="{BB962C8B-B14F-4D97-AF65-F5344CB8AC3E}">
        <p14:creationId xmlns:p14="http://schemas.microsoft.com/office/powerpoint/2010/main" val="4258145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B48B17-5419-4F27-895C-950E4E0EB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651" y="1820173"/>
            <a:ext cx="4344006" cy="12003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10E6A2-1EB3-429C-A7CB-483138C76590}"/>
              </a:ext>
            </a:extLst>
          </p:cNvPr>
          <p:cNvSpPr txBox="1"/>
          <p:nvPr/>
        </p:nvSpPr>
        <p:spPr>
          <a:xfrm>
            <a:off x="1199651" y="1285524"/>
            <a:ext cx="3355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 Table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5F5355-DC7E-41EF-9668-7C2AEE1C9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405" y="3595981"/>
            <a:ext cx="4391638" cy="14194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ED6294-5096-4763-AF57-48414B8CF6B4}"/>
              </a:ext>
            </a:extLst>
          </p:cNvPr>
          <p:cNvSpPr txBox="1"/>
          <p:nvPr/>
        </p:nvSpPr>
        <p:spPr>
          <a:xfrm>
            <a:off x="6511405" y="3031186"/>
            <a:ext cx="3355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 Table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4FEA6A-92F5-41F6-8D72-8F8BA1544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465" y="5110812"/>
            <a:ext cx="4248743" cy="10383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B7990CC-3D26-4FDB-A0A8-3E002BF7FA2E}"/>
              </a:ext>
            </a:extLst>
          </p:cNvPr>
          <p:cNvSpPr txBox="1"/>
          <p:nvPr/>
        </p:nvSpPr>
        <p:spPr>
          <a:xfrm>
            <a:off x="1030465" y="4553739"/>
            <a:ext cx="3355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Table</a:t>
            </a:r>
          </a:p>
        </p:txBody>
      </p:sp>
    </p:spTree>
    <p:extLst>
      <p:ext uri="{BB962C8B-B14F-4D97-AF65-F5344CB8AC3E}">
        <p14:creationId xmlns:p14="http://schemas.microsoft.com/office/powerpoint/2010/main" val="23581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FD9DE-4449-4054-8297-69690382D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004"/>
            <a:ext cx="3007936" cy="1058322"/>
          </a:xfrm>
        </p:spPr>
        <p:txBody>
          <a:bodyPr/>
          <a:lstStyle/>
          <a:p>
            <a:r>
              <a:rPr lang="en-IN" sz="4400" b="1" dirty="0">
                <a:solidFill>
                  <a:srgbClr val="FF0000"/>
                </a:solidFill>
              </a:rPr>
              <a:t>ER Diagram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B64D56-53C3-4F1D-B717-AC24C64FE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1228774"/>
            <a:ext cx="7265090" cy="50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977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DC314-D367-4C5D-8EFE-0D5D56018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945" y="365125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Table Relationships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BC37B-F32B-489B-B3EC-59FC16718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15273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One-to-Many from supplier to products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One-to-Many from categories to products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One-to-Many from products to </a:t>
            </a:r>
            <a:r>
              <a:rPr lang="en-US" dirty="0" err="1"/>
              <a:t>order_details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One-to-Many from orders to </a:t>
            </a:r>
            <a:r>
              <a:rPr lang="en-US" dirty="0" err="1"/>
              <a:t>order_details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One-to-Many from customers to orders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One-to-Many from employees to orders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4778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A9F7D-B848-4244-AE26-1A136F026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214" y="373097"/>
            <a:ext cx="5138394" cy="71895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Customer Insights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9BE14D-466D-4EC1-83F8-C9D9C63F1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42084"/>
            <a:ext cx="3682415" cy="1686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F930A3-9352-4148-BE7B-7A064C16E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134" y="1231306"/>
            <a:ext cx="2115363" cy="26206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D0DB18-9C03-4770-A824-D04DEAE42DED}"/>
              </a:ext>
            </a:extLst>
          </p:cNvPr>
          <p:cNvSpPr txBox="1"/>
          <p:nvPr/>
        </p:nvSpPr>
        <p:spPr>
          <a:xfrm>
            <a:off x="775214" y="1231306"/>
            <a:ext cx="7701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customers have placed the highest number of orders?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B268EC-F2C4-4FD7-92E6-E30AFBB65A87}"/>
              </a:ext>
            </a:extLst>
          </p:cNvPr>
          <p:cNvSpPr txBox="1"/>
          <p:nvPr/>
        </p:nvSpPr>
        <p:spPr>
          <a:xfrm>
            <a:off x="775214" y="3851958"/>
            <a:ext cx="66372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are the top 5 customers by total purchase amount?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8521F7-8FE1-429C-9D8D-E375397BC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214" y="4359240"/>
            <a:ext cx="4067743" cy="23815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AF00CE-D9B5-4CA5-95D6-003B67279A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1292" y="4444081"/>
            <a:ext cx="3194971" cy="160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639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6EE0F13-1109-45FC-8EF1-0439C11F2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38394" cy="71895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Product Performance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9A4B80-671C-45DC-8508-BA37F467D194}"/>
              </a:ext>
            </a:extLst>
          </p:cNvPr>
          <p:cNvSpPr txBox="1"/>
          <p:nvPr/>
        </p:nvSpPr>
        <p:spPr>
          <a:xfrm>
            <a:off x="775214" y="1231306"/>
            <a:ext cx="7701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average price of products by category?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9178E6-C195-4332-890E-53356881D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78640"/>
            <a:ext cx="3696216" cy="13146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BB9068-0CC8-4F4A-B787-1DB636E03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586" y="1631416"/>
            <a:ext cx="2743583" cy="13622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CC70AD-C9D1-45D6-A224-A849D9EEE912}"/>
              </a:ext>
            </a:extLst>
          </p:cNvPr>
          <p:cNvSpPr txBox="1"/>
          <p:nvPr/>
        </p:nvSpPr>
        <p:spPr>
          <a:xfrm>
            <a:off x="683566" y="3468751"/>
            <a:ext cx="7701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total revenue generated by each product?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1D99F25-DD58-4386-8982-1480EA490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214" y="3972357"/>
            <a:ext cx="4134427" cy="15527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FE3A6A-9F66-4E15-81D3-AB5425F07A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8283" y="3468751"/>
            <a:ext cx="2492146" cy="28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51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5907AE5-23F6-4C29-834A-0A4BC5F26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38394" cy="71895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Sales and Order Trends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2FBC3E-E4B8-4C10-A037-D33C49F8C536}"/>
              </a:ext>
            </a:extLst>
          </p:cNvPr>
          <p:cNvSpPr txBox="1"/>
          <p:nvPr/>
        </p:nvSpPr>
        <p:spPr>
          <a:xfrm>
            <a:off x="838200" y="1413708"/>
            <a:ext cx="7701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average value per order?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8657A5-A149-4DF6-9BD3-77385D967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63154"/>
            <a:ext cx="4265801" cy="17227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6EB967-F193-4535-84EB-EFDDEABFA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037" y="1755195"/>
            <a:ext cx="2300969" cy="8675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14FEBF-B330-415A-8108-557EC4AB3D9F}"/>
              </a:ext>
            </a:extLst>
          </p:cNvPr>
          <p:cNvSpPr txBox="1"/>
          <p:nvPr/>
        </p:nvSpPr>
        <p:spPr>
          <a:xfrm>
            <a:off x="838200" y="4027268"/>
            <a:ext cx="7701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which dates were the most orders placed?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52C3E6B-731A-4D47-8921-9C6C2913B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622803"/>
            <a:ext cx="3200847" cy="12765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EB1DF2-8C18-4703-B8EC-272B0CF895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6486" y="3443453"/>
            <a:ext cx="2128073" cy="282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92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CEFFF40-EBB2-47D6-9C44-20AEBB178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38394" cy="71895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Supplier Contribution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33E995-76FA-48BF-81D9-823DA1E7ACB7}"/>
              </a:ext>
            </a:extLst>
          </p:cNvPr>
          <p:cNvSpPr txBox="1"/>
          <p:nvPr/>
        </p:nvSpPr>
        <p:spPr>
          <a:xfrm>
            <a:off x="838200" y="1413708"/>
            <a:ext cx="7701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average price of products from each supplier?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04BF0D-F10A-4CB7-9910-7FECB56323CB}"/>
              </a:ext>
            </a:extLst>
          </p:cNvPr>
          <p:cNvSpPr txBox="1"/>
          <p:nvPr/>
        </p:nvSpPr>
        <p:spPr>
          <a:xfrm>
            <a:off x="838199" y="3782766"/>
            <a:ext cx="8324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suppliers contribute the most to total product sales (by revenue)?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E65DD8-5CE2-4949-974D-420AC33F3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980511"/>
            <a:ext cx="3591426" cy="13051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1F4D7B-E8A2-45C0-A3AE-19701BDBB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0645" y="1813818"/>
            <a:ext cx="2210108" cy="14289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91334D7-D6CD-4C07-8918-4D81527F2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4317675"/>
            <a:ext cx="4096322" cy="17814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480D8CF-9715-4056-8553-DB3DAB1D8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0645" y="4317675"/>
            <a:ext cx="2429214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368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AD1F068-E57A-42B3-9ED5-A5A961873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38394" cy="71895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Employee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289ED-2987-4867-8124-C45FA4CFA349}"/>
              </a:ext>
            </a:extLst>
          </p:cNvPr>
          <p:cNvSpPr txBox="1"/>
          <p:nvPr/>
        </p:nvSpPr>
        <p:spPr>
          <a:xfrm>
            <a:off x="838200" y="1413708"/>
            <a:ext cx="7701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employees have handled the most orders?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E7DDB-274F-417F-8730-3A9CF990BD22}"/>
              </a:ext>
            </a:extLst>
          </p:cNvPr>
          <p:cNvSpPr txBox="1"/>
          <p:nvPr/>
        </p:nvSpPr>
        <p:spPr>
          <a:xfrm>
            <a:off x="838200" y="3894529"/>
            <a:ext cx="7701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total sales value processed by each employee?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EE97AD-EF3B-4DCA-9915-32D91486F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88" y="2002155"/>
            <a:ext cx="3381847" cy="15527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B09374-B6E8-4F6A-A5E4-22960D39D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636" y="1413708"/>
            <a:ext cx="2429214" cy="23720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C981AD-B03B-470F-AE81-DE398A2DC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188" y="4381178"/>
            <a:ext cx="3924848" cy="17909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37E7B7-2050-4077-8A83-F2AB41AE33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0636" y="3894529"/>
            <a:ext cx="2259990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127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4CC4EE-5385-4E1B-8660-900D97A8E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38394" cy="71895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Order Details Deep Dive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45013E-CE2A-475F-8F6B-05904176CB4B}"/>
              </a:ext>
            </a:extLst>
          </p:cNvPr>
          <p:cNvSpPr txBox="1"/>
          <p:nvPr/>
        </p:nvSpPr>
        <p:spPr>
          <a:xfrm>
            <a:off x="838200" y="1413708"/>
            <a:ext cx="7701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relationship between quantity ordered and total price?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C1A70F-B913-4A97-8DC9-24FDC30CB5F2}"/>
              </a:ext>
            </a:extLst>
          </p:cNvPr>
          <p:cNvSpPr txBox="1"/>
          <p:nvPr/>
        </p:nvSpPr>
        <p:spPr>
          <a:xfrm>
            <a:off x="838199" y="3658859"/>
            <a:ext cx="7701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does the unit price vary across products and orders?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914F9F-3D6F-463D-B78F-A6313D0FF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496" y="1941666"/>
            <a:ext cx="3534268" cy="12574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31EAC0-8107-49B7-87BD-873DF2551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317" y="1779718"/>
            <a:ext cx="2076740" cy="14194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0A5208-F700-495A-B692-D842A9453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496" y="4173495"/>
            <a:ext cx="4077269" cy="16004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CF8539-C4E1-42F7-AB6A-0CD80B7FA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8471" y="3602859"/>
            <a:ext cx="3042098" cy="263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48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EC358-7DCC-48DC-96C3-F2B091F50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026790" cy="1102281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FE6C0-25A9-4623-9989-CC21568EB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785" y="1467406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High-priced categories such as Dairy Products, Personal Care, and Household items indicate strong revenue contribution and potential for higher profit margins.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Certain essential items show significantly higher sales volume, highlighting their importance as fast-moving products that consistently drive overall store performance.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Focusing on premium categories for profitability and maintaining strong availability of high-demand essentials can help balance revenue growth and sales stability.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61020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4CD66-97D1-442D-8E9A-0AC453859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770748" cy="926347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Recommendations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A5B12-1CA0-44B7-A6CA-78BDE38AA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944" y="1486260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Offer personalized rewards, special discounts, or loyalty benefits to high-value customers to encourage long-term engagement.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Implement a structured loyalty program that tracks purchase behavior and provides incentives based on customer activity.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Ensure efficient inventory management for fast-moving products to prevent stockouts and maintain consistent daily sales performance.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12993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71000-F9A6-4E61-8873-B5E35007B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2932522" cy="1096030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Conclusion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C8082-5365-4C31-8FA8-3BA247ACE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156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Revenue distribution is uneven, with a limited segment of customers generating a substantial portion of total sales, indicating the importance of focusing on high-value customer retention.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Supplier performance analysis reveals that a few suppliers contribute significantly across multiple product categories, helping identify strong partnership opportunities.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Strengthening relationships with top-performing suppliers while monitoring diversification can improve supply stability and overall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3250190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llustration vector graphic cartoon character of QnA 6349081 Vector Art at  Vecteezy">
            <a:extLst>
              <a:ext uri="{FF2B5EF4-FFF2-40B4-BE49-F238E27FC236}">
                <a16:creationId xmlns:a16="http://schemas.microsoft.com/office/drawing/2014/main" id="{08BD3A09-DAEF-4760-94B1-31356A19B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322" y="754145"/>
            <a:ext cx="6928701" cy="49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717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A warm vector illustration of a man presenting a Thank You card, symbolizing a gesture of appreciation and kindness. This image is perfect for customer service, corporate recognition, or designs promoting gratitude and positive interactions, vector design Generative AI. Man thank you vectors">
            <a:extLst>
              <a:ext uri="{FF2B5EF4-FFF2-40B4-BE49-F238E27FC236}">
                <a16:creationId xmlns:a16="http://schemas.microsoft.com/office/drawing/2014/main" id="{F3113CE5-1872-49BE-8EA5-AB48EA688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083" y="924858"/>
            <a:ext cx="8903616" cy="500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668</Words>
  <Application>Microsoft Office PowerPoint</Application>
  <PresentationFormat>Widescreen</PresentationFormat>
  <Paragraphs>95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Lato Black</vt:lpstr>
      <vt:lpstr>Arial</vt:lpstr>
      <vt:lpstr>Wingdings</vt:lpstr>
      <vt:lpstr>Calibri</vt:lpstr>
      <vt:lpstr>Office Theme</vt:lpstr>
      <vt:lpstr>PowerPoint Presentation</vt:lpstr>
      <vt:lpstr>PowerPoint Presentation</vt:lpstr>
      <vt:lpstr>Agenda</vt:lpstr>
      <vt:lpstr>Business Problem</vt:lpstr>
      <vt:lpstr>Objective</vt:lpstr>
      <vt:lpstr>Tables</vt:lpstr>
      <vt:lpstr>PowerPoint Presentation</vt:lpstr>
      <vt:lpstr>ER Diagram</vt:lpstr>
      <vt:lpstr>Table Relationships</vt:lpstr>
      <vt:lpstr>Customer Insights</vt:lpstr>
      <vt:lpstr>Product Performance</vt:lpstr>
      <vt:lpstr>Sales and Order Trends</vt:lpstr>
      <vt:lpstr>Supplier Contribution</vt:lpstr>
      <vt:lpstr>Employee Performance</vt:lpstr>
      <vt:lpstr>Order Details Deep Dive</vt:lpstr>
      <vt:lpstr>Insights</vt:lpstr>
      <vt:lpstr>Recommendations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Aadesh Yogi</cp:lastModifiedBy>
  <cp:revision>23</cp:revision>
  <dcterms:created xsi:type="dcterms:W3CDTF">2021-02-16T05:19:01Z</dcterms:created>
  <dcterms:modified xsi:type="dcterms:W3CDTF">2026-02-14T11:53:34Z</dcterms:modified>
</cp:coreProperties>
</file>